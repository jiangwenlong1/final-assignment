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24384000" cy="13716000"/>
  <p:notesSz cx="6858000" cy="9144000"/>
  <p:embeddedFontLst>
    <p:embeddedFont>
      <p:font typeface="Anek Bangla Expanded SemiBold"/>
      <p:bold r:id="rId15"/>
    </p:embeddedFont>
    <p:embeddedFont>
      <p:font typeface="Anek Bangla Expanded Regular"/>
      <p:regular r:id="rId16"/>
    </p:embeddedFont>
    <p:embeddedFont>
      <p:font typeface="Poppins Regular"/>
      <p:regular r:id="rId17"/>
    </p:embeddedFont>
    <p:embeddedFont>
      <p:font typeface="Pretendard Regular"/>
      <p:regular r:id="rId18"/>
    </p:embeddedFont>
    <p:embeddedFont>
      <p:font typeface="Anek Bangla Expanded Medium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.fntdata" Type="http://schemas.openxmlformats.org/officeDocument/2006/relationships/font"/><Relationship Id="rId16" Target="fonts/font2.fntdata" Type="http://schemas.openxmlformats.org/officeDocument/2006/relationships/font"/><Relationship Id="rId17" Target="fonts/font3.fntdata" Type="http://schemas.openxmlformats.org/officeDocument/2006/relationships/font"/><Relationship Id="rId18" Target="fonts/font4.fntdata" Type="http://schemas.openxmlformats.org/officeDocument/2006/relationships/font"/><Relationship Id="rId19" Target="fonts/font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E06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571500"/>
            <a:ext cx="23304500" cy="1257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08500" y="2336800"/>
            <a:ext cx="1816100" cy="1816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33400" y="1193800"/>
            <a:ext cx="5613400" cy="497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8280000">
            <a:off x="16256000" y="2146300"/>
            <a:ext cx="2603500" cy="152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8280000">
            <a:off x="18161000" y="2146300"/>
            <a:ext cx="2603500" cy="152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8280000">
            <a:off x="20066000" y="2146300"/>
            <a:ext cx="2603500" cy="1524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978400" y="3619500"/>
            <a:ext cx="14478000" cy="6743700"/>
          </a:xfrm>
          <a:prstGeom prst="rect">
            <a:avLst/>
          </a:prstGeom>
        </p:spPr>
        <p:txBody>
          <a:bodyPr anchor="ctr" rtlCol="false" lIns="0" tIns="565661" rIns="0" bIns="565661"/>
          <a:lstStyle/>
          <a:p>
            <a:pPr algn="ctr" lvl="0">
              <a:lnSpc>
                <a:spcPct val="77190"/>
              </a:lnSpc>
            </a:pPr>
            <a:r>
              <a:rPr lang="en-US" sz="18953" b="false" i="false" u="none" strike="noStrike" spc="-8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Expense Tracker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76900" y="9715500"/>
            <a:ext cx="13030200" cy="990600"/>
          </a:xfrm>
          <a:prstGeom prst="rect">
            <a:avLst/>
          </a:prstGeom>
        </p:spPr>
        <p:txBody>
          <a:bodyPr anchor="ctr" rtlCol="false" lIns="0" tIns="23510" rIns="0" bIns="23510"/>
          <a:lstStyle/>
          <a:p>
            <a:pPr algn="ctr" lvl="0">
              <a:lnSpc>
                <a:spcPct val="108729"/>
              </a:lnSpc>
            </a:pPr>
            <a:r>
              <a:rPr lang="en-US" sz="4113" b="false" i="false" u="none" strike="noStrike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An Open Source Software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8900" y="11544300"/>
            <a:ext cx="5257800" cy="93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866" b="fals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JIANG WENLONG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8900" y="10629900"/>
            <a:ext cx="3187700" cy="939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866" b="false" i="false" u="none" strike="noStrike" cap="all">
                <a:solidFill>
                  <a:srgbClr val="000000"/>
                </a:solidFill>
                <a:latin typeface="Anek Bangla Expanded Regular"/>
                <a:ea typeface="Anek Bangla Expanded Regular"/>
                <a:cs typeface="Anek Bangla Expanded Regular"/>
              </a:rPr>
              <a:t>23013145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E06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571500"/>
            <a:ext cx="23304500" cy="12573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879600" y="7061200"/>
            <a:ext cx="6591300" cy="508000"/>
          </a:xfrm>
          <a:prstGeom prst="rect">
            <a:avLst/>
          </a:prstGeom>
        </p:spPr>
        <p:txBody>
          <a:bodyPr anchor="t" rtlCol="false" lIns="0" tIns="46228" rIns="0" bIns="0"/>
          <a:lstStyle/>
          <a:p>
            <a:pPr algn="l" lvl="0">
              <a:lnSpc>
                <a:spcPct val="94619"/>
              </a:lnSpc>
            </a:pPr>
            <a:r>
              <a:rPr lang="en-US" sz="2799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Why is Open Source Important?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54400" y="7086600"/>
            <a:ext cx="6591300" cy="482600"/>
          </a:xfrm>
          <a:prstGeom prst="rect">
            <a:avLst/>
          </a:prstGeom>
        </p:spPr>
        <p:txBody>
          <a:bodyPr anchor="t" rtlCol="false" lIns="0" tIns="44027" rIns="0" bIns="0"/>
          <a:lstStyle/>
          <a:p>
            <a:pPr algn="l" lvl="0">
              <a:lnSpc>
                <a:spcPct val="94619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Examples of Open Source Software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7600" y="4051300"/>
            <a:ext cx="14528800" cy="1752600"/>
          </a:xfrm>
          <a:prstGeom prst="rect">
            <a:avLst/>
          </a:prstGeom>
        </p:spPr>
        <p:txBody>
          <a:bodyPr anchor="t" rtlCol="false" lIns="0" tIns="17526" rIns="0" bIns="0"/>
          <a:lstStyle/>
          <a:p>
            <a:pPr algn="ctr" lvl="0">
              <a:lnSpc>
                <a:spcPct val="108729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Open Source Software (OSS) is software whose source code is publicly available. Anyone can use, study, modify, and share the code according to the license terms.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45400" y="1155700"/>
            <a:ext cx="9144000" cy="2260600"/>
          </a:xfrm>
          <a:prstGeom prst="rect">
            <a:avLst/>
          </a:prstGeom>
        </p:spPr>
        <p:txBody>
          <a:bodyPr anchor="t" rtlCol="false" lIns="0" tIns="165770" rIns="0" bIns="0"/>
          <a:lstStyle/>
          <a:p>
            <a:pPr algn="ctr" lvl="0">
              <a:lnSpc>
                <a:spcPct val="81339"/>
              </a:lnSpc>
            </a:pPr>
            <a:r>
              <a:rPr lang="en-US" sz="6215" b="false" i="false" u="none" strike="noStrike" spc="-4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What is Open Source Software?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6700" y="9080500"/>
            <a:ext cx="9334500" cy="2133600"/>
          </a:xfrm>
          <a:prstGeom prst="rect">
            <a:avLst/>
          </a:prstGeom>
        </p:spPr>
        <p:txBody>
          <a:bodyPr anchor="t" rtlCol="false" lIns="0" tIns="46228" rIns="0" bIns="0"/>
          <a:lstStyle/>
          <a:p>
            <a:pPr algn="l" lvl="0">
              <a:lnSpc>
                <a:spcPct val="94619"/>
              </a:lnSpc>
            </a:pPr>
            <a:r>
              <a:rPr lang="en-US" sz="2799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Encourages collaboration among developers
Helps people learn from existing code
Improves software quality through community contributions
Reduces development costs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54400" y="8940800"/>
            <a:ext cx="6591300" cy="1727200"/>
          </a:xfrm>
          <a:prstGeom prst="rect">
            <a:avLst/>
          </a:prstGeom>
        </p:spPr>
        <p:txBody>
          <a:bodyPr anchor="t" rtlCol="false" lIns="0" tIns="46228" rIns="0" bIns="0"/>
          <a:lstStyle/>
          <a:p>
            <a:pPr algn="l" lvl="0">
              <a:lnSpc>
                <a:spcPct val="94619"/>
              </a:lnSpc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Linux
Python
Git
Visual Studio Code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E06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571500"/>
            <a:ext cx="23304500" cy="12573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334000" y="4203700"/>
            <a:ext cx="14173200" cy="914400"/>
          </a:xfrm>
          <a:prstGeom prst="rect">
            <a:avLst/>
          </a:prstGeom>
        </p:spPr>
        <p:txBody>
          <a:bodyPr anchor="t" rtlCol="false" lIns="0" tIns="46228" rIns="0" bIns="0"/>
          <a:lstStyle/>
          <a:p>
            <a:pPr algn="l" lvl="0">
              <a:lnSpc>
                <a:spcPct val="94619"/>
              </a:lnSpc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It is a simple Python application that helps users record and manage their daily expenses. The program also provides charts to visualize spending patterns.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63800" y="6146800"/>
            <a:ext cx="6629400" cy="711200"/>
          </a:xfrm>
          <a:prstGeom prst="rect">
            <a:avLst/>
          </a:prstGeom>
        </p:spPr>
        <p:txBody>
          <a:bodyPr anchor="t" rtlCol="false" lIns="0" tIns="63839" rIns="0" bIns="0"/>
          <a:lstStyle/>
          <a:p>
            <a:pPr algn="l" lvl="0">
              <a:lnSpc>
                <a:spcPct val="94619"/>
              </a:lnSpc>
            </a:pPr>
            <a:r>
              <a:rPr lang="en-US" sz="3866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Project Files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7600" y="3111500"/>
            <a:ext cx="14528800" cy="736600"/>
          </a:xfrm>
          <a:prstGeom prst="rect">
            <a:avLst/>
          </a:prstGeom>
        </p:spPr>
        <p:txBody>
          <a:bodyPr anchor="t" rtlCol="false" lIns="0" tIns="17526" rIns="0" bIns="0"/>
          <a:lstStyle/>
          <a:p>
            <a:pPr algn="ctr" lvl="0">
              <a:lnSpc>
                <a:spcPct val="108729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The project I selected is called Expense Tracker.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45400" y="1155700"/>
            <a:ext cx="9144000" cy="1485900"/>
          </a:xfrm>
          <a:prstGeom prst="rect">
            <a:avLst/>
          </a:prstGeom>
        </p:spPr>
        <p:txBody>
          <a:bodyPr anchor="t" rtlCol="false" lIns="0" tIns="165770" rIns="0" bIns="0"/>
          <a:lstStyle/>
          <a:p>
            <a:pPr algn="ctr" lvl="0">
              <a:lnSpc>
                <a:spcPct val="81339"/>
              </a:lnSpc>
            </a:pPr>
            <a:r>
              <a:rPr lang="en-US" sz="6215" b="false" i="false" u="none" strike="noStrike" spc="-4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24100" y="7569200"/>
            <a:ext cx="5118100" cy="2133600"/>
          </a:xfrm>
          <a:prstGeom prst="rect">
            <a:avLst/>
          </a:prstGeom>
        </p:spPr>
        <p:txBody>
          <a:bodyPr anchor="t" rtlCol="false" lIns="0" tIns="46228" rIns="0" bIns="0"/>
          <a:lstStyle/>
          <a:p>
            <a:pPr algn="l" lvl="1" marL="342900" indent="-342900">
              <a:lnSpc>
                <a:spcPct val="9461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Add expense records</a:t>
            </a:r>
          </a:p>
          <a:p>
            <a:pPr algn="l" lvl="1" marL="342900" indent="-342900">
              <a:lnSpc>
                <a:spcPct val="9461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View expense history</a:t>
            </a:r>
          </a:p>
          <a:p>
            <a:pPr algn="l" lvl="1" marL="342900" indent="-342900">
              <a:lnSpc>
                <a:spcPct val="9461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Calculate total expenses</a:t>
            </a:r>
          </a:p>
          <a:p>
            <a:pPr algn="l" lvl="1" marL="342900" indent="-342900">
              <a:lnSpc>
                <a:spcPct val="9461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Generate pie charts</a:t>
            </a:r>
          </a:p>
          <a:p>
            <a:pPr algn="l" lvl="1" marL="342900" indent="-342900">
              <a:lnSpc>
                <a:spcPct val="9461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Generate bar charts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63800" y="7569200"/>
            <a:ext cx="6591300" cy="2527300"/>
          </a:xfrm>
          <a:prstGeom prst="rect">
            <a:avLst/>
          </a:prstGeom>
        </p:spPr>
        <p:txBody>
          <a:bodyPr anchor="t" rtlCol="false" lIns="0" tIns="46228" rIns="0" bIns="0"/>
          <a:lstStyle/>
          <a:p>
            <a:pPr algn="l" lvl="1" marL="342900" indent="-342900">
              <a:lnSpc>
                <a:spcPct val="9461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Expense Tracker.py</a:t>
            </a:r>
          </a:p>
          <a:p>
            <a:pPr algn="l" lvl="1" marL="342900" indent="-342900">
              <a:lnSpc>
                <a:spcPct val="9461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README.md</a:t>
            </a:r>
          </a:p>
          <a:p>
            <a:pPr algn="l" lvl="1" marL="342900" indent="-342900">
              <a:lnSpc>
                <a:spcPct val="9461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LICENSE</a:t>
            </a:r>
          </a:p>
          <a:p>
            <a:pPr algn="l" lvl="1" marL="342900" indent="-342900">
              <a:lnSpc>
                <a:spcPct val="9461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requirements.txt</a:t>
            </a:r>
          </a:p>
          <a:p>
            <a:pPr algn="l" lvl="1" marL="342900" indent="-342900">
              <a:lnSpc>
                <a:spcPct val="9461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expense_pie_chart.png</a:t>
            </a:r>
          </a:p>
          <a:p>
            <a:pPr algn="l" lvl="1" marL="342900" indent="-342900">
              <a:lnSpc>
                <a:spcPct val="9461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expense_bar_chart.png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24100" y="6146800"/>
            <a:ext cx="4483100" cy="711200"/>
          </a:xfrm>
          <a:prstGeom prst="rect">
            <a:avLst/>
          </a:prstGeom>
        </p:spPr>
        <p:txBody>
          <a:bodyPr anchor="t" rtlCol="false" lIns="0" tIns="63839" rIns="0" bIns="0"/>
          <a:lstStyle/>
          <a:p>
            <a:pPr algn="l" lvl="0">
              <a:lnSpc>
                <a:spcPct val="94619"/>
              </a:lnSpc>
            </a:pPr>
            <a:r>
              <a:rPr lang="en-US" sz="3866" b="false" i="false" u="none" strike="noStrike" spc="-100">
                <a:solidFill>
                  <a:srgbClr val="000000"/>
                </a:solidFill>
                <a:latin typeface="Poppins Regular"/>
                <a:ea typeface="Poppins Regular"/>
                <a:cs typeface="Poppins Regular"/>
              </a:rPr>
              <a:t>Main Features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E06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571500"/>
            <a:ext cx="23304500" cy="12573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636000" y="889000"/>
            <a:ext cx="7315200" cy="2044700"/>
          </a:xfrm>
          <a:prstGeom prst="rect">
            <a:avLst/>
          </a:prstGeom>
        </p:spPr>
        <p:txBody>
          <a:bodyPr anchor="t" rtlCol="false" lIns="0" tIns="171112" rIns="0" bIns="0"/>
          <a:lstStyle/>
          <a:p>
            <a:pPr algn="l" lvl="0">
              <a:lnSpc>
                <a:spcPct val="77190"/>
              </a:lnSpc>
            </a:pPr>
            <a:r>
              <a:rPr lang="en-US" sz="5733" b="false" i="false" u="none" strike="noStrike" spc="-4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README.md Documentation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20400" y="5105400"/>
            <a:ext cx="12319000" cy="580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README.md is the first document that users see when they visit a GitHub repository.
It explains:
What the project does
How to install the project
How to run the program
What technologies are used
How the project is organized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32000" y="889000"/>
            <a:ext cx="2946400" cy="294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32000" y="3683000"/>
            <a:ext cx="83439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E06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571500"/>
            <a:ext cx="23304500" cy="12573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359900" y="889000"/>
            <a:ext cx="5880100" cy="1358900"/>
          </a:xfrm>
          <a:prstGeom prst="rect">
            <a:avLst/>
          </a:prstGeom>
        </p:spPr>
        <p:txBody>
          <a:bodyPr anchor="t" rtlCol="false" lIns="0" tIns="171112" rIns="0" bIns="0"/>
          <a:lstStyle/>
          <a:p>
            <a:pPr algn="l" lvl="0">
              <a:lnSpc>
                <a:spcPct val="77190"/>
              </a:lnSpc>
            </a:pPr>
            <a:r>
              <a:rPr lang="en-US" sz="5733" b="false" i="false" u="none" strike="noStrike" spc="-4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LICENSE File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074400" y="3644900"/>
            <a:ext cx="11874500" cy="247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785" b="tru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Understanding the LICENSE File
</a:t>
            </a:r>
            <a:r>
              <a:rPr lang="en-US" sz="2518" b="fals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  A LICENSE file explains how other people can use and share the software.
  This project uses the MIT License.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540000" y="774700"/>
            <a:ext cx="2946400" cy="294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8400" y="3848100"/>
            <a:ext cx="9283700" cy="8648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074400" y="6159500"/>
            <a:ext cx="118745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785" b="tru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MIT License Allows</a:t>
            </a:r>
            <a:r>
              <a:rPr lang="en-US" sz="2785" b="fals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74400" y="6769100"/>
            <a:ext cx="11874500" cy="247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85" b="fals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Using the software freely</a:t>
            </a:r>
            <a:r>
              <a:rPr lang="en-US" sz="2785" b="fals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/>
            </a:r>
          </a:p>
          <a:p>
            <a:pPr algn="l" lvl="1" marL="342900" indent="-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85" b="fals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Modifying the source code</a:t>
            </a:r>
          </a:p>
          <a:p>
            <a:pPr algn="l" lvl="1" marL="342900" indent="-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85" b="fals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Sharing the software</a:t>
            </a:r>
          </a:p>
          <a:p>
            <a:pPr algn="l" lvl="1" marL="342900" indent="-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85" b="fals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Using it for commercial purposes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74400" y="9461500"/>
            <a:ext cx="11874500" cy="247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785" b="false" i="false" u="none" strike="noStrike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Why It Matters
  Without a license, users may not know what they are legally allowed to do with the project.
  The license makes software sharing safer and clearer.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E06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571500"/>
            <a:ext cx="23304500" cy="12573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620000" y="1155700"/>
            <a:ext cx="9182100" cy="1485900"/>
          </a:xfrm>
          <a:prstGeom prst="rect">
            <a:avLst/>
          </a:prstGeom>
        </p:spPr>
        <p:txBody>
          <a:bodyPr anchor="t" rtlCol="false" lIns="0" tIns="165770" rIns="0" bIns="0"/>
          <a:lstStyle/>
          <a:p>
            <a:pPr algn="ctr" lvl="0">
              <a:lnSpc>
                <a:spcPct val="81339"/>
              </a:lnSpc>
            </a:pPr>
            <a:r>
              <a:rPr lang="en-US" sz="6215" b="false" i="false" u="none" strike="noStrike" spc="-4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Technologies Used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95500" y="4673600"/>
            <a:ext cx="72771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Library Used：Matplotlib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71700" y="3390900"/>
            <a:ext cx="83820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Programming Language：Python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95500" y="5575300"/>
            <a:ext cx="64135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Purpose of Matplotlib：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71700" y="6489700"/>
            <a:ext cx="5740400" cy="205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Create pie charts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Create bar charts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Visualize expense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71700" y="8547100"/>
            <a:ext cx="9575800" cy="205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Data Structure：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The program uses a Python dictionary to store expense categories and amounts.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71700" y="10731500"/>
            <a:ext cx="10172700" cy="1371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Dependency Management：
The project includes a requirements.txt file.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92000" y="5499100"/>
            <a:ext cx="5486400" cy="838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17400" y="10909300"/>
            <a:ext cx="54864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E06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571500"/>
            <a:ext cx="23304500" cy="12573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632200" y="1536700"/>
            <a:ext cx="17780000" cy="1485900"/>
          </a:xfrm>
          <a:prstGeom prst="rect">
            <a:avLst/>
          </a:prstGeom>
        </p:spPr>
        <p:txBody>
          <a:bodyPr anchor="t" rtlCol="false" lIns="0" tIns="165770" rIns="0" bIns="0"/>
          <a:lstStyle/>
          <a:p>
            <a:pPr algn="ctr" lvl="0">
              <a:lnSpc>
                <a:spcPct val="81339"/>
              </a:lnSpc>
            </a:pPr>
            <a:r>
              <a:rPr lang="en-US" sz="6215" b="false" i="false" u="none" strike="noStrike" spc="-4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Project Implementation and 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8300" y="4381500"/>
            <a:ext cx="6464300" cy="5930900"/>
          </a:xfrm>
          <a:prstGeom prst="rect">
            <a:avLst/>
          </a:prstGeom>
        </p:spPr>
        <p:txBody>
          <a:bodyPr anchor="t" rtlCol="false" lIns="0" tIns="13631" rIns="0" bIns="0"/>
          <a:lstStyle/>
          <a:p>
            <a:pPr algn="ctr" lvl="0">
              <a:lnSpc>
                <a:spcPct val="11039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Anek Bangla Expanded Medium"/>
                <a:ea typeface="Anek Bangla Expanded Medium"/>
                <a:cs typeface="Anek Bangla Expanded Medium"/>
              </a:rPr>
              <a:t>User Input
     ↓
Store Data in Dictionary
     ↓
Calculate Statistics
     ↓
Find Highest Expense
     ↓
Generate Charts
     ↓
Display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82800" y="3314700"/>
            <a:ext cx="61087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Project Implementation：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12200" y="3314700"/>
            <a:ext cx="56642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Output Files：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712200" y="4241800"/>
            <a:ext cx="6108700" cy="8597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290800" y="3314700"/>
            <a:ext cx="8280400" cy="480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Results：
The application successfully records expenses and generates visual reports. Users can clearly understand their spending habits through charts and statistical summaries.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E06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571500"/>
            <a:ext cx="23304500" cy="1257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19700" y="6616700"/>
            <a:ext cx="32639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45100" y="10820400"/>
            <a:ext cx="32639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62700" y="8724900"/>
            <a:ext cx="4241800" cy="5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458200" y="8724900"/>
            <a:ext cx="3263900" cy="5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900400" y="6616700"/>
            <a:ext cx="32639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875000" y="10820400"/>
            <a:ext cx="32639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3779500" y="8724900"/>
            <a:ext cx="42418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661900" y="8724900"/>
            <a:ext cx="32639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82700" y="5359400"/>
            <a:ext cx="6464300" cy="2921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2700" y="9601200"/>
            <a:ext cx="6464300" cy="311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73400" y="5359400"/>
            <a:ext cx="6464300" cy="7353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473200" y="5486400"/>
            <a:ext cx="5956300" cy="571500"/>
          </a:xfrm>
          <a:prstGeom prst="rect">
            <a:avLst/>
          </a:prstGeom>
        </p:spPr>
        <p:txBody>
          <a:bodyPr anchor="t" rtlCol="false" lIns="0" tIns="13716" rIns="0" bIns="0"/>
          <a:lstStyle/>
          <a:p>
            <a:pPr algn="l" lvl="0">
              <a:lnSpc>
                <a:spcPct val="108729"/>
              </a:lnSpc>
            </a:pPr>
            <a:r>
              <a:rPr lang="en-US" sz="2400" b="false" i="false" u="none" strike="noStrike" spc="-1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Strengths of the Project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27400" y="5905500"/>
            <a:ext cx="3200400" cy="622300"/>
          </a:xfrm>
          <a:prstGeom prst="rect">
            <a:avLst/>
          </a:prstGeom>
        </p:spPr>
        <p:txBody>
          <a:bodyPr anchor="t" rtlCol="false" lIns="0" tIns="14478" rIns="0" bIns="0"/>
          <a:lstStyle/>
          <a:p>
            <a:pPr algn="l" lvl="0">
              <a:lnSpc>
                <a:spcPct val="108729"/>
              </a:lnSpc>
            </a:pPr>
            <a:r>
              <a:rPr lang="en-US" sz="2533" b="false" i="false" u="none" strike="noStrike" spc="-2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Conclusion: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92500" y="838200"/>
            <a:ext cx="17437100" cy="1320800"/>
          </a:xfrm>
          <a:prstGeom prst="rect">
            <a:avLst/>
          </a:prstGeom>
        </p:spPr>
        <p:txBody>
          <a:bodyPr anchor="t" rtlCol="false" lIns="0" tIns="147990" rIns="0" bIns="0"/>
          <a:lstStyle/>
          <a:p>
            <a:pPr algn="ctr" lvl="0">
              <a:lnSpc>
                <a:spcPct val="81339"/>
              </a:lnSpc>
            </a:pPr>
            <a:r>
              <a:rPr lang="en-US" sz="5548" b="false" i="false" u="none" strike="noStrike" spc="-4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Open Source Evaluation and Conclusion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44000" y="5867400"/>
            <a:ext cx="6096000" cy="609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71600" y="3644900"/>
            <a:ext cx="1765300" cy="1765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104100" y="3403600"/>
            <a:ext cx="2273300" cy="2273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90700" y="8280400"/>
            <a:ext cx="1117600" cy="1092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9550400" y="6959600"/>
            <a:ext cx="5295900" cy="4152900"/>
          </a:xfrm>
          <a:prstGeom prst="rect">
            <a:avLst/>
          </a:prstGeom>
        </p:spPr>
        <p:txBody>
          <a:bodyPr anchor="t" rtlCol="false" lIns="0" tIns="209679" rIns="0" bIns="0"/>
          <a:lstStyle/>
          <a:p>
            <a:pPr algn="ctr" lvl="0">
              <a:lnSpc>
                <a:spcPct val="77190"/>
              </a:lnSpc>
            </a:pPr>
            <a:r>
              <a:rPr lang="en-US" sz="7025" b="false" i="false" u="none" strike="noStrike" spc="-500" cap="all">
                <a:solidFill>
                  <a:srgbClr val="F7F6F2"/>
                </a:solidFill>
                <a:latin typeface="Anek Bangla Expanded SemiBold"/>
                <a:ea typeface="Anek Bangla Expanded SemiBold"/>
                <a:cs typeface="Anek Bangla Expanded SemiBold"/>
              </a:rPr>
              <a:t>Evaluation and Conclusion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3200" y="6134100"/>
            <a:ext cx="6350000" cy="186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0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Clear project structure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0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Complete READMEdocumentation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0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MIT License included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0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Dependency management with requirements.txt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0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Source code hosted on GitHub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73200" y="9740900"/>
            <a:ext cx="6057900" cy="571500"/>
          </a:xfrm>
          <a:prstGeom prst="rect">
            <a:avLst/>
          </a:prstGeom>
        </p:spPr>
        <p:txBody>
          <a:bodyPr anchor="t" rtlCol="false" lIns="0" tIns="13716" rIns="0" bIns="0"/>
          <a:lstStyle/>
          <a:p>
            <a:pPr algn="l" lvl="0">
              <a:lnSpc>
                <a:spcPct val="108729"/>
              </a:lnSpc>
            </a:pPr>
            <a:r>
              <a:rPr lang="en-US" sz="2400" b="false" i="false" u="none" strike="noStrike" spc="-1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Through this project, I learned: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3200" y="10248900"/>
            <a:ext cx="6235700" cy="227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Open-source software concepts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Git and GitHub usage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Documentation writing with README.md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Software licensing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Dependency management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Python programming and data visualization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027400" y="5715000"/>
            <a:ext cx="6311900" cy="6311900"/>
          </a:xfrm>
          <a:prstGeom prst="rect">
            <a:avLst/>
          </a:prstGeom>
        </p:spPr>
        <p:txBody>
          <a:bodyPr anchor="t" rtlCol="false" lIns="0" tIns="14478" rIns="0" bIns="0"/>
          <a:lstStyle/>
          <a:p>
            <a:pPr algn="l" lvl="0">
              <a:lnSpc>
                <a:spcPct val="108729"/>
              </a:lnSpc>
            </a:pPr>
            <a:r>
              <a:rPr lang="en-US" sz="2638" b="false" i="false" u="none" strike="noStrike" spc="-2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This project successfully demonstrates the essential practices of open-source software development. In addition to implementing an expense management application, it follows open-source standards through proper documentation, licensing, dependency management, and code sharing.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E06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571500"/>
            <a:ext cx="23304500" cy="12573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562600" y="4673600"/>
            <a:ext cx="12928600" cy="3517900"/>
          </a:xfrm>
          <a:prstGeom prst="rect">
            <a:avLst/>
          </a:prstGeom>
        </p:spPr>
        <p:txBody>
          <a:bodyPr anchor="t" rtlCol="false" lIns="0" tIns="393354" rIns="0" bIns="0"/>
          <a:lstStyle/>
          <a:p>
            <a:pPr algn="l" lvl="0">
              <a:lnSpc>
                <a:spcPct val="81339"/>
              </a:lnSpc>
            </a:pPr>
            <a:r>
              <a:rPr lang="en-US" sz="14747" b="false" i="false" u="none" strike="noStrike" spc="-900" cap="all">
                <a:solidFill>
                  <a:srgbClr val="000000"/>
                </a:solidFill>
                <a:latin typeface="Anek Bangla Expanded SemiBold"/>
                <a:ea typeface="Anek Bangla Expanded SemiBold"/>
                <a:cs typeface="Anek Bangla Expanded SemiBold"/>
              </a:rPr>
              <a:t>Thank You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45100" y="8369300"/>
            <a:ext cx="4000500" cy="402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